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60" r:id="rId3"/>
    <p:sldId id="286" r:id="rId4"/>
    <p:sldId id="299" r:id="rId5"/>
    <p:sldId id="298" r:id="rId6"/>
    <p:sldId id="295" r:id="rId7"/>
    <p:sldId id="293" r:id="rId8"/>
    <p:sldId id="288" r:id="rId9"/>
    <p:sldId id="300" r:id="rId10"/>
    <p:sldId id="294" r:id="rId11"/>
    <p:sldId id="272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FF6200"/>
    <a:srgbClr val="2E3191"/>
    <a:srgbClr val="F24405"/>
    <a:srgbClr val="7C8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D86061-CDA7-43D1-A737-000F3D361F45}" type="datetimeFigureOut">
              <a:rPr lang="pt-BR" smtClean="0"/>
              <a:t>26/05/26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72764-3A66-45C4-8655-E73B4DFA84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791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3D4F7ED4-502F-9617-BCB2-B48D34CA4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>
            <a:extLst>
              <a:ext uri="{FF2B5EF4-FFF2-40B4-BE49-F238E27FC236}">
                <a16:creationId xmlns:a16="http://schemas.microsoft.com/office/drawing/2014/main" id="{F6E7AF9A-F339-A065-99D7-373493B812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>
            <a:extLst>
              <a:ext uri="{FF2B5EF4-FFF2-40B4-BE49-F238E27FC236}">
                <a16:creationId xmlns:a16="http://schemas.microsoft.com/office/drawing/2014/main" id="{20983D6D-582A-0AFD-5EC0-E865A562B7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3870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5F610C77-5862-6CA9-745B-A36923730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>
            <a:extLst>
              <a:ext uri="{FF2B5EF4-FFF2-40B4-BE49-F238E27FC236}">
                <a16:creationId xmlns:a16="http://schemas.microsoft.com/office/drawing/2014/main" id="{E328EF25-5D8F-C5B0-8C06-07928D5627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>
            <a:extLst>
              <a:ext uri="{FF2B5EF4-FFF2-40B4-BE49-F238E27FC236}">
                <a16:creationId xmlns:a16="http://schemas.microsoft.com/office/drawing/2014/main" id="{058CBB37-BEB4-48BA-D43E-92490EBD70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8845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BBAA358A-D73D-B656-D66D-DD9E73D3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>
            <a:extLst>
              <a:ext uri="{FF2B5EF4-FFF2-40B4-BE49-F238E27FC236}">
                <a16:creationId xmlns:a16="http://schemas.microsoft.com/office/drawing/2014/main" id="{A8D77D03-ABF6-E25D-F6DE-E8F0037A4E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>
            <a:extLst>
              <a:ext uri="{FF2B5EF4-FFF2-40B4-BE49-F238E27FC236}">
                <a16:creationId xmlns:a16="http://schemas.microsoft.com/office/drawing/2014/main" id="{53CA217D-4B83-099E-075A-F5C8634D92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7480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643501F6-47E5-6C0F-5B74-D0C6C4404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>
            <a:extLst>
              <a:ext uri="{FF2B5EF4-FFF2-40B4-BE49-F238E27FC236}">
                <a16:creationId xmlns:a16="http://schemas.microsoft.com/office/drawing/2014/main" id="{0F363E09-1578-AFE1-B942-DEC2D7B5E1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>
            <a:extLst>
              <a:ext uri="{FF2B5EF4-FFF2-40B4-BE49-F238E27FC236}">
                <a16:creationId xmlns:a16="http://schemas.microsoft.com/office/drawing/2014/main" id="{F816E519-FC9A-B433-B331-53105B8896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1620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95E7F6BD-C20E-D715-3222-7B4322AAF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>
            <a:extLst>
              <a:ext uri="{FF2B5EF4-FFF2-40B4-BE49-F238E27FC236}">
                <a16:creationId xmlns:a16="http://schemas.microsoft.com/office/drawing/2014/main" id="{A9738F8D-3176-DBE1-682D-E46A33FC20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>
            <a:extLst>
              <a:ext uri="{FF2B5EF4-FFF2-40B4-BE49-F238E27FC236}">
                <a16:creationId xmlns:a16="http://schemas.microsoft.com/office/drawing/2014/main" id="{0E9EED9C-CC0E-BEE5-DC12-DFA5A379FE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2641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BE88AB50-D3E7-CF32-22B4-A3B1F5D5A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>
            <a:extLst>
              <a:ext uri="{FF2B5EF4-FFF2-40B4-BE49-F238E27FC236}">
                <a16:creationId xmlns:a16="http://schemas.microsoft.com/office/drawing/2014/main" id="{0E1C61C6-B1A3-D855-FF4E-578AA54733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6D0A641C-6EDF-378D-AB3C-E1BDEA9101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6335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EB7A5784-1B03-50F3-1068-D8EA0F4C4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>
            <a:extLst>
              <a:ext uri="{FF2B5EF4-FFF2-40B4-BE49-F238E27FC236}">
                <a16:creationId xmlns:a16="http://schemas.microsoft.com/office/drawing/2014/main" id="{9769DC57-4F02-247D-BF1A-436B6D58DC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>
            <a:extLst>
              <a:ext uri="{FF2B5EF4-FFF2-40B4-BE49-F238E27FC236}">
                <a16:creationId xmlns:a16="http://schemas.microsoft.com/office/drawing/2014/main" id="{27DF87FC-C0C8-7A89-88C3-D062128499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8712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C0566297-27EA-74FA-9EF1-4EEEBCD4D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>
            <a:extLst>
              <a:ext uri="{FF2B5EF4-FFF2-40B4-BE49-F238E27FC236}">
                <a16:creationId xmlns:a16="http://schemas.microsoft.com/office/drawing/2014/main" id="{5723BBCD-F73A-2CE7-EF0D-9059DFCEAE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>
            <a:extLst>
              <a:ext uri="{FF2B5EF4-FFF2-40B4-BE49-F238E27FC236}">
                <a16:creationId xmlns:a16="http://schemas.microsoft.com/office/drawing/2014/main" id="{309736FD-2B66-28D4-3223-D56B40695F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5585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9F006-150E-08C9-D44F-47344F12C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B6D8E9-164C-84C0-F34C-049415513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934FD-8676-7399-4E05-1EC88DB03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26/05/26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4755EE-AEFF-72B1-901C-0A2FE9784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D7968A-D3D1-6A5C-E624-B11C1BEA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8439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4C127-01BD-2BC0-E521-E87EC6F04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5D2908-BA5A-87C2-FEA2-C6A0A4678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2ADFAB-51B1-127C-3B57-39623274A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26/05/26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5E24F6-C892-1E26-11FE-D7F03CA8A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240E27-28CE-5705-5BFE-3C519CAB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05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4CD33-5674-8A0B-D706-6272A0768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6FC65D-DB26-7453-8B96-FBCD29C08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21A061-AB3F-DBD4-3C60-409D67BA0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26/05/26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241DF3-F9C1-D7ED-9289-C7BB1E56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745F4A-5C85-69DC-5537-56CBE32C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6438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0E137-0306-D3D5-9A03-E7E2A13A1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D36339-34C0-DEAF-855B-EAC4EC3A0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09FBF98-0395-3873-0A96-2DB750622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D881C1-26EA-EBC4-7E5F-88919ADE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26/05/26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112050-9E18-0E47-0148-F51D29D0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A94843-06E8-6480-A4ED-1372AB1B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7634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13B077-4EB0-31E1-AF81-3E270949F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D3F3E74-C8C6-9335-B9E5-0A1FC944A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17D436-18A2-F047-C47F-04AE08D2D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30E1A23-D106-FD0A-8FF5-5D2ECE7BC9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4CC7F57-79B1-C902-D389-6C914A86E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62343E7-2AA5-FCCE-C5F0-B46D3AA23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26/05/26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DCE5099-B4B4-C604-84C4-993A3DA2D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F33246C-A8D1-06C5-CDE1-36FE92A5C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6348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BF287-64F4-1627-D156-5B792C33F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606EB98-7F63-3587-D7BE-C49B0F50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26/05/26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187A00-0EE0-4F48-1450-6380DEB87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434E702-E4E5-7F91-1B64-7E8C44E8F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525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3E0B547-C514-DC6D-F05F-027A03AE4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26/05/26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1A1337A-B844-A19D-7A84-D8087F7B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7E2AE4-1184-4767-CE98-087E61699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773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0E978-8307-CDDD-7C55-3C663FEDD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F90401-2454-2269-3A15-DDBE0A56D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C015BD-9656-054E-FA1A-0A1466F67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0066B8-19F2-DF1C-7807-207074244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26/05/26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2B2E67-1497-FA91-08E0-E679DC2C3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930E1C-7F6D-94FB-78C7-8E8E8334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778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2BBC21-2D24-282E-C37E-8306E3A0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5F7E118-DE30-92A3-F5BD-D3E4EFB10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2C1EB7-493B-F373-D018-13D1CE76F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86FCF3-A732-2B75-3B83-2C967B295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26/05/26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17F43B-13E8-845D-737E-343F1A5B7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0BB0E7-E67C-0222-9BD5-7981019EB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054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ADE0E6-2112-999C-721D-CFD482F85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689B77-F050-C369-646F-F606D7B51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D2D848-8044-1767-E0FA-463C8BA00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26/05/26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39774C-DAA4-13E2-23CD-068874A02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69E89A-0AF3-3EBA-3BC9-D2A45B9D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5625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EDC887-075C-A1DF-0955-9BC1B256D2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7E7FCB-8198-582C-0892-E23219FFE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DD1435-26FF-B73A-B993-352DD2907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26/05/26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69B595-081F-BC27-7A72-BEAF00232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59D775-9FE5-1E51-79F5-F23ADE06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754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5C5490D-DDFD-720B-757F-D30F8CC3E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5AFB1E-44FD-5936-EB75-B8A1B1690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53D116-982B-0EB3-281D-D88C14EBAF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7EB7-7DA4-499B-A06C-99EC1B6A3570}" type="datetimeFigureOut">
              <a:rPr lang="pt-BR" smtClean="0"/>
              <a:t>26/05/26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6C26B6-1506-4517-7765-D413A4AB1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C073AA-AA0B-4776-BAC2-7994AD743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5200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7" r="9328"/>
          <a:stretch>
            <a:fillRect/>
          </a:stretch>
        </p:blipFill>
        <p:spPr>
          <a:xfrm>
            <a:off x="0" y="-2677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"/>
          <p:cNvSpPr/>
          <p:nvPr/>
        </p:nvSpPr>
        <p:spPr>
          <a:xfrm>
            <a:off x="0" y="0"/>
            <a:ext cx="10101560" cy="6858000"/>
          </a:xfrm>
          <a:custGeom>
            <a:avLst/>
            <a:gdLst/>
            <a:ahLst/>
            <a:cxnLst/>
            <a:rect l="l" t="t" r="r" b="b"/>
            <a:pathLst>
              <a:path w="10101560" h="6858000" extrusionOk="0">
                <a:moveTo>
                  <a:pt x="0" y="0"/>
                </a:moveTo>
                <a:lnTo>
                  <a:pt x="10101560" y="0"/>
                </a:lnTo>
                <a:lnTo>
                  <a:pt x="6632471" y="3469090"/>
                </a:lnTo>
                <a:lnTo>
                  <a:pt x="1002138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Google Shape;93;p2">
            <a:extLst>
              <a:ext uri="{FF2B5EF4-FFF2-40B4-BE49-F238E27FC236}">
                <a16:creationId xmlns:a16="http://schemas.microsoft.com/office/drawing/2014/main" id="{3DDD2056-7A60-10B6-768E-B66AF7DEF6E6}"/>
              </a:ext>
            </a:extLst>
          </p:cNvPr>
          <p:cNvSpPr txBox="1"/>
          <p:nvPr/>
        </p:nvSpPr>
        <p:spPr>
          <a:xfrm>
            <a:off x="614213" y="2978751"/>
            <a:ext cx="5620327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Black"/>
                <a:ea typeface="Poppins Black"/>
                <a:cs typeface="Poppins Black"/>
                <a:sym typeface="Poppins Black"/>
              </a:rPr>
              <a:t>CIÊNCIA</a:t>
            </a:r>
            <a:r>
              <a:rPr lang="pt-BR" sz="720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Black"/>
                <a:ea typeface="Poppins Black"/>
                <a:cs typeface="Poppins Black"/>
                <a:sym typeface="Poppins Black"/>
              </a:rPr>
              <a:t> DE DADOS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2" name="Google Shape;92;p2"/>
          <p:cNvSpPr/>
          <p:nvPr/>
        </p:nvSpPr>
        <p:spPr>
          <a:xfrm rot="-2700000">
            <a:off x="9779462" y="-2028870"/>
            <a:ext cx="3001724" cy="5907966"/>
          </a:xfrm>
          <a:custGeom>
            <a:avLst/>
            <a:gdLst>
              <a:gd name="connsiteX0" fmla="*/ 0 w 3001724"/>
              <a:gd name="connsiteY0" fmla="*/ 0 h 5907966"/>
              <a:gd name="connsiteX1" fmla="*/ 3001724 w 3001724"/>
              <a:gd name="connsiteY1" fmla="*/ 0 h 5907966"/>
              <a:gd name="connsiteX2" fmla="*/ 3001724 w 3001724"/>
              <a:gd name="connsiteY2" fmla="*/ 5907966 h 5907966"/>
              <a:gd name="connsiteX3" fmla="*/ 0 w 3001724"/>
              <a:gd name="connsiteY3" fmla="*/ 5907966 h 5907966"/>
              <a:gd name="connsiteX4" fmla="*/ 0 w 3001724"/>
              <a:gd name="connsiteY4" fmla="*/ 0 h 5907966"/>
              <a:gd name="connsiteX0" fmla="*/ 0 w 3001724"/>
              <a:gd name="connsiteY0" fmla="*/ 0 h 5907966"/>
              <a:gd name="connsiteX1" fmla="*/ 3001724 w 3001724"/>
              <a:gd name="connsiteY1" fmla="*/ 3027162 h 5907966"/>
              <a:gd name="connsiteX2" fmla="*/ 3001724 w 3001724"/>
              <a:gd name="connsiteY2" fmla="*/ 5907966 h 5907966"/>
              <a:gd name="connsiteX3" fmla="*/ 0 w 3001724"/>
              <a:gd name="connsiteY3" fmla="*/ 5907966 h 5907966"/>
              <a:gd name="connsiteX4" fmla="*/ 0 w 3001724"/>
              <a:gd name="connsiteY4" fmla="*/ 0 h 5907966"/>
              <a:gd name="connsiteX0" fmla="*/ 0 w 3001724"/>
              <a:gd name="connsiteY0" fmla="*/ 0 h 5907966"/>
              <a:gd name="connsiteX1" fmla="*/ 3001724 w 3001724"/>
              <a:gd name="connsiteY1" fmla="*/ 3027162 h 5907966"/>
              <a:gd name="connsiteX2" fmla="*/ 3001724 w 3001724"/>
              <a:gd name="connsiteY2" fmla="*/ 5907966 h 5907966"/>
              <a:gd name="connsiteX3" fmla="*/ 0 w 3001724"/>
              <a:gd name="connsiteY3" fmla="*/ 5907966 h 5907966"/>
              <a:gd name="connsiteX4" fmla="*/ 0 w 3001724"/>
              <a:gd name="connsiteY4" fmla="*/ 0 h 5907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1724" h="5907966">
                <a:moveTo>
                  <a:pt x="0" y="0"/>
                </a:moveTo>
                <a:lnTo>
                  <a:pt x="3001724" y="3027162"/>
                </a:lnTo>
                <a:lnTo>
                  <a:pt x="3001724" y="5907966"/>
                </a:lnTo>
                <a:lnTo>
                  <a:pt x="0" y="5907966"/>
                </a:lnTo>
                <a:lnTo>
                  <a:pt x="0" y="0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614214" y="5362858"/>
            <a:ext cx="615026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7F7F7F"/>
                </a:solidFill>
                <a:latin typeface="Montserrat" pitchFamily="2" charset="0"/>
                <a:ea typeface="Poppins"/>
                <a:cs typeface="Poppins"/>
                <a:sym typeface="Poppins"/>
              </a:rPr>
              <a:t>MODELO DE REGRESSÃO</a:t>
            </a:r>
            <a:endParaRPr lang="pt-BR" sz="1600" cap="none" dirty="0">
              <a:solidFill>
                <a:srgbClr val="7F7F7F"/>
              </a:solidFill>
              <a:latin typeface="Montserrat" pitchFamily="2" charset="0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7F7F7F"/>
                </a:solidFill>
                <a:latin typeface="Montserrat" pitchFamily="2" charset="0"/>
                <a:cs typeface="Poppins"/>
                <a:sym typeface="Poppins"/>
              </a:rPr>
              <a:t>Por Matheus Resende</a:t>
            </a:r>
            <a:endParaRPr b="1" dirty="0">
              <a:latin typeface="Montserrat" pitchFamily="2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80183DE-F1D5-3344-FB55-F9AE902FA7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7144" y="460475"/>
            <a:ext cx="1800000" cy="1800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2DBAC58-BB43-EDB3-1140-DA3B1AAEA5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7010" y="460475"/>
            <a:ext cx="1800000" cy="1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5"/>
          <p:cNvPicPr preferRelativeResize="0"/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89" r="18489"/>
          <a:stretch/>
        </p:blipFill>
        <p:spPr>
          <a:xfrm>
            <a:off x="3952042" y="0"/>
            <a:ext cx="86439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0" y="0"/>
            <a:ext cx="10788444" cy="6858000"/>
          </a:xfrm>
          <a:custGeom>
            <a:avLst/>
            <a:gdLst/>
            <a:ahLst/>
            <a:cxnLst/>
            <a:rect l="l" t="t" r="r" b="b"/>
            <a:pathLst>
              <a:path w="10788444" h="6858000" extrusionOk="0">
                <a:moveTo>
                  <a:pt x="0" y="0"/>
                </a:moveTo>
                <a:lnTo>
                  <a:pt x="3930444" y="0"/>
                </a:lnTo>
                <a:lnTo>
                  <a:pt x="107884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5"/>
          <p:cNvSpPr/>
          <p:nvPr/>
        </p:nvSpPr>
        <p:spPr>
          <a:xfrm rot="-2700000">
            <a:off x="7070723" y="3858345"/>
            <a:ext cx="7406645" cy="3864826"/>
          </a:xfrm>
          <a:custGeom>
            <a:avLst/>
            <a:gdLst>
              <a:gd name="connsiteX0" fmla="*/ 0 w 7406645"/>
              <a:gd name="connsiteY0" fmla="*/ 0 h 3864826"/>
              <a:gd name="connsiteX1" fmla="*/ 7406645 w 7406645"/>
              <a:gd name="connsiteY1" fmla="*/ 0 h 3864826"/>
              <a:gd name="connsiteX2" fmla="*/ 7406645 w 7406645"/>
              <a:gd name="connsiteY2" fmla="*/ 3864826 h 3864826"/>
              <a:gd name="connsiteX3" fmla="*/ 0 w 7406645"/>
              <a:gd name="connsiteY3" fmla="*/ 3864826 h 3864826"/>
              <a:gd name="connsiteX4" fmla="*/ 0 w 7406645"/>
              <a:gd name="connsiteY4" fmla="*/ 0 h 3864826"/>
              <a:gd name="connsiteX0" fmla="*/ 0 w 7406645"/>
              <a:gd name="connsiteY0" fmla="*/ 0 h 3864826"/>
              <a:gd name="connsiteX1" fmla="*/ 7406645 w 7406645"/>
              <a:gd name="connsiteY1" fmla="*/ 0 h 3864826"/>
              <a:gd name="connsiteX2" fmla="*/ 7406645 w 7406645"/>
              <a:gd name="connsiteY2" fmla="*/ 3864826 h 3864826"/>
              <a:gd name="connsiteX3" fmla="*/ 3908860 w 7406645"/>
              <a:gd name="connsiteY3" fmla="*/ 3850131 h 3864826"/>
              <a:gd name="connsiteX4" fmla="*/ 0 w 7406645"/>
              <a:gd name="connsiteY4" fmla="*/ 0 h 386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06645" h="3864826">
                <a:moveTo>
                  <a:pt x="0" y="0"/>
                </a:moveTo>
                <a:lnTo>
                  <a:pt x="7406645" y="0"/>
                </a:lnTo>
                <a:lnTo>
                  <a:pt x="7406645" y="3864826"/>
                </a:lnTo>
                <a:lnTo>
                  <a:pt x="3908860" y="3850131"/>
                </a:lnTo>
                <a:lnTo>
                  <a:pt x="0" y="0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1082073" y="1860026"/>
            <a:ext cx="454152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pt-BR" dirty="0">
                <a:latin typeface="Montserrat" pitchFamily="2" charset="0"/>
              </a:rPr>
              <a:t>Criar um modelo de regressão para prever o valor a se cobrar em uma diária de aluguel em uma plataforma de imóveis. Tudo isso visando otimizar os valores cobrados e torná-los mais lucrativos.</a:t>
            </a:r>
          </a:p>
        </p:txBody>
      </p:sp>
      <p:sp>
        <p:nvSpPr>
          <p:cNvPr id="157" name="Google Shape;157;p5"/>
          <p:cNvSpPr txBox="1">
            <a:spLocks noGrp="1"/>
          </p:cNvSpPr>
          <p:nvPr>
            <p:ph type="title"/>
          </p:nvPr>
        </p:nvSpPr>
        <p:spPr>
          <a:xfrm>
            <a:off x="1092200" y="1089025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Objetivo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311727" y="1147362"/>
            <a:ext cx="78047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01</a:t>
            </a:r>
            <a:endParaRPr sz="1600" dirty="0">
              <a:solidFill>
                <a:srgbClr val="FF62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2E92F16A-449F-CCC9-B0D2-787A449FE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70;p8">
            <a:extLst>
              <a:ext uri="{FF2B5EF4-FFF2-40B4-BE49-F238E27FC236}">
                <a16:creationId xmlns:a16="http://schemas.microsoft.com/office/drawing/2014/main" id="{97CA3EDC-FD29-D59D-3034-4389AA1C0A06}"/>
              </a:ext>
            </a:extLst>
          </p:cNvPr>
          <p:cNvPicPr preferRelativeResize="0"/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03;p9">
            <a:extLst>
              <a:ext uri="{FF2B5EF4-FFF2-40B4-BE49-F238E27FC236}">
                <a16:creationId xmlns:a16="http://schemas.microsoft.com/office/drawing/2014/main" id="{62963D15-EB67-79C2-5429-DC70C7C9B5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9319" y="1044529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Introdução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7" name="Google Shape;306;p9">
            <a:extLst>
              <a:ext uri="{FF2B5EF4-FFF2-40B4-BE49-F238E27FC236}">
                <a16:creationId xmlns:a16="http://schemas.microsoft.com/office/drawing/2014/main" id="{E3C8E04F-C5DD-8B27-AEF6-F89596747590}"/>
              </a:ext>
            </a:extLst>
          </p:cNvPr>
          <p:cNvSpPr txBox="1"/>
          <p:nvPr/>
        </p:nvSpPr>
        <p:spPr>
          <a:xfrm>
            <a:off x="963376" y="1102866"/>
            <a:ext cx="8659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02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2" name="Google Shape;156;p5">
            <a:extLst>
              <a:ext uri="{FF2B5EF4-FFF2-40B4-BE49-F238E27FC236}">
                <a16:creationId xmlns:a16="http://schemas.microsoft.com/office/drawing/2014/main" id="{E9D792B6-F1E6-4CEB-8AD1-BE32389EF73E}"/>
              </a:ext>
            </a:extLst>
          </p:cNvPr>
          <p:cNvSpPr txBox="1"/>
          <p:nvPr/>
        </p:nvSpPr>
        <p:spPr>
          <a:xfrm>
            <a:off x="1082072" y="1860026"/>
            <a:ext cx="9715405" cy="466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pt-BR" dirty="0">
                <a:latin typeface="Montserrat" pitchFamily="2" charset="0"/>
              </a:rPr>
              <a:t>	A precificação de imóveis para aluguel por temporada é um desafio relevante no mercado imobiliário, pois envolve fatores como localização, características do imóvel e demanda. Nesse cenário, o uso de dados e técnicas analíticas é fundamental para apoiar decisões mais estratégicas e competitivas.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Montserrat" pitchFamily="2" charset="0"/>
              </a:rPr>
              <a:t>	O projeto tem como objetivo prever o valor das diárias de imóveis no Rio de Janeiro utilizando variáveis fornecidas pela equipe de Dados. Com apoio de análise exploratória e algoritmos de machine learning, busca-se identificar padrões que permitam estimativas mais precisas e confiáveis.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Montserrat" pitchFamily="2" charset="0"/>
              </a:rPr>
              <a:t>	Essa abordagem contribui para otimizar a definição de preços e demonstra como a ciência de dados pode transformar informações em insights valiosos, promovendo maior eficiência e decisões orientadas por dados.</a:t>
            </a:r>
          </a:p>
        </p:txBody>
      </p:sp>
      <p:sp>
        <p:nvSpPr>
          <p:cNvPr id="4" name="Google Shape;293;p8">
            <a:extLst>
              <a:ext uri="{FF2B5EF4-FFF2-40B4-BE49-F238E27FC236}">
                <a16:creationId xmlns:a16="http://schemas.microsoft.com/office/drawing/2014/main" id="{0D15E30D-5155-5E95-88BD-2539629EF98C}"/>
              </a:ext>
            </a:extLst>
          </p:cNvPr>
          <p:cNvSpPr/>
          <p:nvPr/>
        </p:nvSpPr>
        <p:spPr>
          <a:xfrm rot="18900000">
            <a:off x="-168568" y="-504451"/>
            <a:ext cx="1728000" cy="1767845"/>
          </a:xfrm>
          <a:custGeom>
            <a:avLst/>
            <a:gdLst>
              <a:gd name="connsiteX0" fmla="*/ 0 w 1728000"/>
              <a:gd name="connsiteY0" fmla="*/ 0 h 1673383"/>
              <a:gd name="connsiteX1" fmla="*/ 1728000 w 1728000"/>
              <a:gd name="connsiteY1" fmla="*/ 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0 h 1673383"/>
              <a:gd name="connsiteX1" fmla="*/ 1705958 w 1728000"/>
              <a:gd name="connsiteY1" fmla="*/ 90374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94462 h 1767845"/>
              <a:gd name="connsiteX1" fmla="*/ 1705958 w 1728000"/>
              <a:gd name="connsiteY1" fmla="*/ 998202 h 1767845"/>
              <a:gd name="connsiteX2" fmla="*/ 1728000 w 1728000"/>
              <a:gd name="connsiteY2" fmla="*/ 1767845 h 1767845"/>
              <a:gd name="connsiteX3" fmla="*/ 0 w 1728000"/>
              <a:gd name="connsiteY3" fmla="*/ 1767845 h 1767845"/>
              <a:gd name="connsiteX4" fmla="*/ 0 w 1728000"/>
              <a:gd name="connsiteY4" fmla="*/ 94462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000" h="1767845">
                <a:moveTo>
                  <a:pt x="0" y="94462"/>
                </a:moveTo>
                <a:cubicBezTo>
                  <a:pt x="568653" y="395709"/>
                  <a:pt x="-30945" y="-750498"/>
                  <a:pt x="1705958" y="998202"/>
                </a:cubicBezTo>
                <a:lnTo>
                  <a:pt x="1728000" y="1767845"/>
                </a:lnTo>
                <a:lnTo>
                  <a:pt x="0" y="1767845"/>
                </a:lnTo>
                <a:lnTo>
                  <a:pt x="0" y="94462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Google Shape;294;p8">
            <a:extLst>
              <a:ext uri="{FF2B5EF4-FFF2-40B4-BE49-F238E27FC236}">
                <a16:creationId xmlns:a16="http://schemas.microsoft.com/office/drawing/2014/main" id="{05D69DD6-5944-FB4B-A91A-80B81C272607}"/>
              </a:ext>
            </a:extLst>
          </p:cNvPr>
          <p:cNvSpPr/>
          <p:nvPr/>
        </p:nvSpPr>
        <p:spPr>
          <a:xfrm rot="18900000">
            <a:off x="11094582" y="4987076"/>
            <a:ext cx="2008112" cy="1672123"/>
          </a:xfrm>
          <a:prstGeom prst="rect">
            <a:avLst/>
          </a:pr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774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745FC0C4-6F5F-CD45-8000-07781BF5C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DDCF529-92D9-98BC-76A9-421E2246F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76" y="1924582"/>
            <a:ext cx="10783078" cy="3290032"/>
          </a:xfrm>
          <a:prstGeom prst="rect">
            <a:avLst/>
          </a:prstGeom>
        </p:spPr>
      </p:pic>
      <p:pic>
        <p:nvPicPr>
          <p:cNvPr id="8" name="Google Shape;270;p8">
            <a:extLst>
              <a:ext uri="{FF2B5EF4-FFF2-40B4-BE49-F238E27FC236}">
                <a16:creationId xmlns:a16="http://schemas.microsoft.com/office/drawing/2014/main" id="{963D53E3-9237-C199-BCC0-5E122C216E8F}"/>
              </a:ext>
            </a:extLst>
          </p:cNvPr>
          <p:cNvPicPr preferRelativeResize="0"/>
          <p:nvPr/>
        </p:nvPicPr>
        <p:blipFill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03;p9">
            <a:extLst>
              <a:ext uri="{FF2B5EF4-FFF2-40B4-BE49-F238E27FC236}">
                <a16:creationId xmlns:a16="http://schemas.microsoft.com/office/drawing/2014/main" id="{1A47A4A2-AA02-32FB-A24A-A6A6F37556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9319" y="1044529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EDA: Mapa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7" name="Google Shape;306;p9">
            <a:extLst>
              <a:ext uri="{FF2B5EF4-FFF2-40B4-BE49-F238E27FC236}">
                <a16:creationId xmlns:a16="http://schemas.microsoft.com/office/drawing/2014/main" id="{43CCCCA7-1E76-C3C3-C5E9-542117E11678}"/>
              </a:ext>
            </a:extLst>
          </p:cNvPr>
          <p:cNvSpPr txBox="1"/>
          <p:nvPr/>
        </p:nvSpPr>
        <p:spPr>
          <a:xfrm>
            <a:off x="963376" y="1102866"/>
            <a:ext cx="8659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03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4" name="Google Shape;293;p8">
            <a:extLst>
              <a:ext uri="{FF2B5EF4-FFF2-40B4-BE49-F238E27FC236}">
                <a16:creationId xmlns:a16="http://schemas.microsoft.com/office/drawing/2014/main" id="{4CD8EB4E-C7C2-AC5C-38D1-DB4F2B5EA0AE}"/>
              </a:ext>
            </a:extLst>
          </p:cNvPr>
          <p:cNvSpPr/>
          <p:nvPr/>
        </p:nvSpPr>
        <p:spPr>
          <a:xfrm rot="18900000">
            <a:off x="-168568" y="-504451"/>
            <a:ext cx="1728000" cy="1767845"/>
          </a:xfrm>
          <a:custGeom>
            <a:avLst/>
            <a:gdLst>
              <a:gd name="connsiteX0" fmla="*/ 0 w 1728000"/>
              <a:gd name="connsiteY0" fmla="*/ 0 h 1673383"/>
              <a:gd name="connsiteX1" fmla="*/ 1728000 w 1728000"/>
              <a:gd name="connsiteY1" fmla="*/ 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0 h 1673383"/>
              <a:gd name="connsiteX1" fmla="*/ 1705958 w 1728000"/>
              <a:gd name="connsiteY1" fmla="*/ 90374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94462 h 1767845"/>
              <a:gd name="connsiteX1" fmla="*/ 1705958 w 1728000"/>
              <a:gd name="connsiteY1" fmla="*/ 998202 h 1767845"/>
              <a:gd name="connsiteX2" fmla="*/ 1728000 w 1728000"/>
              <a:gd name="connsiteY2" fmla="*/ 1767845 h 1767845"/>
              <a:gd name="connsiteX3" fmla="*/ 0 w 1728000"/>
              <a:gd name="connsiteY3" fmla="*/ 1767845 h 1767845"/>
              <a:gd name="connsiteX4" fmla="*/ 0 w 1728000"/>
              <a:gd name="connsiteY4" fmla="*/ 94462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000" h="1767845">
                <a:moveTo>
                  <a:pt x="0" y="94462"/>
                </a:moveTo>
                <a:cubicBezTo>
                  <a:pt x="568653" y="395709"/>
                  <a:pt x="-30945" y="-750498"/>
                  <a:pt x="1705958" y="998202"/>
                </a:cubicBezTo>
                <a:lnTo>
                  <a:pt x="1728000" y="1767845"/>
                </a:lnTo>
                <a:lnTo>
                  <a:pt x="0" y="1767845"/>
                </a:lnTo>
                <a:lnTo>
                  <a:pt x="0" y="94462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Google Shape;294;p8">
            <a:extLst>
              <a:ext uri="{FF2B5EF4-FFF2-40B4-BE49-F238E27FC236}">
                <a16:creationId xmlns:a16="http://schemas.microsoft.com/office/drawing/2014/main" id="{61FEF644-3928-811A-EDBF-84853783DDC5}"/>
              </a:ext>
            </a:extLst>
          </p:cNvPr>
          <p:cNvSpPr/>
          <p:nvPr/>
        </p:nvSpPr>
        <p:spPr>
          <a:xfrm rot="18900000">
            <a:off x="11094582" y="4987076"/>
            <a:ext cx="2008112" cy="1672123"/>
          </a:xfrm>
          <a:prstGeom prst="rect">
            <a:avLst/>
          </a:pr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00174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68BAA5A8-DAFF-5FD8-22F4-C6AF1A13D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70;p8">
            <a:extLst>
              <a:ext uri="{FF2B5EF4-FFF2-40B4-BE49-F238E27FC236}">
                <a16:creationId xmlns:a16="http://schemas.microsoft.com/office/drawing/2014/main" id="{86E194D6-3D6B-A4D8-1A84-DBA23EE988AB}"/>
              </a:ext>
            </a:extLst>
          </p:cNvPr>
          <p:cNvPicPr preferRelativeResize="0"/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03;p9">
            <a:extLst>
              <a:ext uri="{FF2B5EF4-FFF2-40B4-BE49-F238E27FC236}">
                <a16:creationId xmlns:a16="http://schemas.microsoft.com/office/drawing/2014/main" id="{93B82116-FD90-1C7B-BC04-455B131324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9319" y="1044529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EDA: Base Técnica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7" name="Google Shape;306;p9">
            <a:extLst>
              <a:ext uri="{FF2B5EF4-FFF2-40B4-BE49-F238E27FC236}">
                <a16:creationId xmlns:a16="http://schemas.microsoft.com/office/drawing/2014/main" id="{B1907C69-F210-3C93-C9AC-8304ECF76A5F}"/>
              </a:ext>
            </a:extLst>
          </p:cNvPr>
          <p:cNvSpPr txBox="1"/>
          <p:nvPr/>
        </p:nvSpPr>
        <p:spPr>
          <a:xfrm>
            <a:off x="963376" y="1102866"/>
            <a:ext cx="8659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04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4" name="Google Shape;293;p8">
            <a:extLst>
              <a:ext uri="{FF2B5EF4-FFF2-40B4-BE49-F238E27FC236}">
                <a16:creationId xmlns:a16="http://schemas.microsoft.com/office/drawing/2014/main" id="{02D0A2A4-A43A-A776-A5C5-7874A07BCE06}"/>
              </a:ext>
            </a:extLst>
          </p:cNvPr>
          <p:cNvSpPr/>
          <p:nvPr/>
        </p:nvSpPr>
        <p:spPr>
          <a:xfrm rot="18900000">
            <a:off x="-168568" y="-504451"/>
            <a:ext cx="1728000" cy="1767845"/>
          </a:xfrm>
          <a:custGeom>
            <a:avLst/>
            <a:gdLst>
              <a:gd name="connsiteX0" fmla="*/ 0 w 1728000"/>
              <a:gd name="connsiteY0" fmla="*/ 0 h 1673383"/>
              <a:gd name="connsiteX1" fmla="*/ 1728000 w 1728000"/>
              <a:gd name="connsiteY1" fmla="*/ 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0 h 1673383"/>
              <a:gd name="connsiteX1" fmla="*/ 1705958 w 1728000"/>
              <a:gd name="connsiteY1" fmla="*/ 90374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94462 h 1767845"/>
              <a:gd name="connsiteX1" fmla="*/ 1705958 w 1728000"/>
              <a:gd name="connsiteY1" fmla="*/ 998202 h 1767845"/>
              <a:gd name="connsiteX2" fmla="*/ 1728000 w 1728000"/>
              <a:gd name="connsiteY2" fmla="*/ 1767845 h 1767845"/>
              <a:gd name="connsiteX3" fmla="*/ 0 w 1728000"/>
              <a:gd name="connsiteY3" fmla="*/ 1767845 h 1767845"/>
              <a:gd name="connsiteX4" fmla="*/ 0 w 1728000"/>
              <a:gd name="connsiteY4" fmla="*/ 94462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000" h="1767845">
                <a:moveTo>
                  <a:pt x="0" y="94462"/>
                </a:moveTo>
                <a:cubicBezTo>
                  <a:pt x="568653" y="395709"/>
                  <a:pt x="-30945" y="-750498"/>
                  <a:pt x="1705958" y="998202"/>
                </a:cubicBezTo>
                <a:lnTo>
                  <a:pt x="1728000" y="1767845"/>
                </a:lnTo>
                <a:lnTo>
                  <a:pt x="0" y="1767845"/>
                </a:lnTo>
                <a:lnTo>
                  <a:pt x="0" y="94462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54751C61-CE16-696C-F2EE-A92C73237660}"/>
              </a:ext>
            </a:extLst>
          </p:cNvPr>
          <p:cNvGrpSpPr/>
          <p:nvPr/>
        </p:nvGrpSpPr>
        <p:grpSpPr>
          <a:xfrm>
            <a:off x="695432" y="2139369"/>
            <a:ext cx="3056571" cy="2026677"/>
            <a:chOff x="6046010" y="2039866"/>
            <a:chExt cx="3056571" cy="202667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5303260D-FADA-0840-33DE-D1EAAD69F0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6" b="156"/>
            <a:stretch/>
          </p:blipFill>
          <p:spPr bwMode="auto">
            <a:xfrm>
              <a:off x="6352622" y="2791179"/>
              <a:ext cx="2520000" cy="1275364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3" name="Google Shape;156;p5">
              <a:extLst>
                <a:ext uri="{FF2B5EF4-FFF2-40B4-BE49-F238E27FC236}">
                  <a16:creationId xmlns:a16="http://schemas.microsoft.com/office/drawing/2014/main" id="{63C429E1-D00B-BAC3-03B7-4ACB3DBDF5E2}"/>
                </a:ext>
              </a:extLst>
            </p:cNvPr>
            <p:cNvSpPr txBox="1"/>
            <p:nvPr/>
          </p:nvSpPr>
          <p:spPr>
            <a:xfrm>
              <a:off x="6046010" y="2039866"/>
              <a:ext cx="3056571" cy="5077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pt-BR"/>
              </a:defPPr>
              <a:lvl1pPr marR="0" lvl="0" indent="0">
                <a:spcBef>
                  <a:spcPts val="0"/>
                </a:spcBef>
                <a:spcAft>
                  <a:spcPts val="0"/>
                </a:spcAft>
                <a:buNone/>
                <a:defRPr>
                  <a:solidFill>
                    <a:srgbClr val="7F7F7F"/>
                  </a:solidFill>
                  <a:latin typeface="Open Sans"/>
                  <a:ea typeface="Open Sans"/>
                  <a:cs typeface="Open San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pt-BR" b="1" dirty="0">
                  <a:solidFill>
                    <a:srgbClr val="FF6200"/>
                  </a:solidFill>
                  <a:latin typeface="Montserrat" pitchFamily="2" charset="0"/>
                </a:rPr>
                <a:t>1:</a:t>
              </a:r>
              <a:r>
                <a:rPr lang="pt-BR" b="1" dirty="0">
                  <a:latin typeface="Montserrat" pitchFamily="2" charset="0"/>
                </a:rPr>
                <a:t> </a:t>
              </a:r>
              <a:r>
                <a:rPr lang="pt-BR" dirty="0">
                  <a:latin typeface="Montserrat" pitchFamily="2" charset="0"/>
                </a:rPr>
                <a:t>Histograma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916BB0F5-4787-8451-03BF-60120B953926}"/>
              </a:ext>
            </a:extLst>
          </p:cNvPr>
          <p:cNvGrpSpPr/>
          <p:nvPr/>
        </p:nvGrpSpPr>
        <p:grpSpPr>
          <a:xfrm>
            <a:off x="4495874" y="2139369"/>
            <a:ext cx="3045943" cy="3370414"/>
            <a:chOff x="9124319" y="2039866"/>
            <a:chExt cx="3045943" cy="3370414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BDA3F97E-F6ED-E63A-3EF0-86D9DF641F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9393087" y="2791179"/>
              <a:ext cx="2520000" cy="261910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10" name="Google Shape;156;p5">
              <a:extLst>
                <a:ext uri="{FF2B5EF4-FFF2-40B4-BE49-F238E27FC236}">
                  <a16:creationId xmlns:a16="http://schemas.microsoft.com/office/drawing/2014/main" id="{5B5C905D-E256-6113-FFB7-33916C6567DC}"/>
                </a:ext>
              </a:extLst>
            </p:cNvPr>
            <p:cNvSpPr txBox="1"/>
            <p:nvPr/>
          </p:nvSpPr>
          <p:spPr>
            <a:xfrm>
              <a:off x="9124319" y="2039866"/>
              <a:ext cx="3045943" cy="5077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pt-BR"/>
              </a:defPPr>
              <a:lvl1pPr marR="0" lvl="0" indent="0">
                <a:spcBef>
                  <a:spcPts val="0"/>
                </a:spcBef>
                <a:spcAft>
                  <a:spcPts val="0"/>
                </a:spcAft>
                <a:buNone/>
                <a:defRPr>
                  <a:solidFill>
                    <a:srgbClr val="7F7F7F"/>
                  </a:solidFill>
                  <a:latin typeface="Open Sans"/>
                  <a:ea typeface="Open Sans"/>
                  <a:cs typeface="Open San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pt-BR" b="1" dirty="0">
                  <a:solidFill>
                    <a:srgbClr val="FF6200"/>
                  </a:solidFill>
                  <a:latin typeface="Montserrat" pitchFamily="2" charset="0"/>
                </a:rPr>
                <a:t>2:</a:t>
              </a:r>
              <a:r>
                <a:rPr lang="pt-BR" b="1" dirty="0">
                  <a:latin typeface="Montserrat" pitchFamily="2" charset="0"/>
                </a:rPr>
                <a:t> </a:t>
              </a:r>
              <a:r>
                <a:rPr lang="pt-BR" dirty="0">
                  <a:latin typeface="Montserrat" pitchFamily="2" charset="0"/>
                </a:rPr>
                <a:t>Mapa de Calor</a:t>
              </a:r>
            </a:p>
          </p:txBody>
        </p:sp>
      </p:grpSp>
      <p:sp>
        <p:nvSpPr>
          <p:cNvPr id="17" name="Google Shape;294;p8">
            <a:extLst>
              <a:ext uri="{FF2B5EF4-FFF2-40B4-BE49-F238E27FC236}">
                <a16:creationId xmlns:a16="http://schemas.microsoft.com/office/drawing/2014/main" id="{B7AC547D-FFCD-0DFC-55C1-DD6216FCD715}"/>
              </a:ext>
            </a:extLst>
          </p:cNvPr>
          <p:cNvSpPr/>
          <p:nvPr/>
        </p:nvSpPr>
        <p:spPr>
          <a:xfrm rot="18900000">
            <a:off x="11094582" y="4987076"/>
            <a:ext cx="2008112" cy="1672123"/>
          </a:xfrm>
          <a:prstGeom prst="rect">
            <a:avLst/>
          </a:pr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24DAC54C-56B3-D83F-81D3-0930C26129E7}"/>
              </a:ext>
            </a:extLst>
          </p:cNvPr>
          <p:cNvGrpSpPr/>
          <p:nvPr/>
        </p:nvGrpSpPr>
        <p:grpSpPr>
          <a:xfrm>
            <a:off x="8285688" y="2139369"/>
            <a:ext cx="3056571" cy="1957468"/>
            <a:chOff x="6042755" y="4505166"/>
            <a:chExt cx="3056571" cy="1957468"/>
          </a:xfrm>
        </p:grpSpPr>
        <p:sp>
          <p:nvSpPr>
            <p:cNvPr id="13" name="Google Shape;156;p5">
              <a:extLst>
                <a:ext uri="{FF2B5EF4-FFF2-40B4-BE49-F238E27FC236}">
                  <a16:creationId xmlns:a16="http://schemas.microsoft.com/office/drawing/2014/main" id="{5A69BD0C-7672-5AA7-C5AF-AD558E9D0510}"/>
                </a:ext>
              </a:extLst>
            </p:cNvPr>
            <p:cNvSpPr txBox="1"/>
            <p:nvPr/>
          </p:nvSpPr>
          <p:spPr>
            <a:xfrm>
              <a:off x="6042755" y="4505166"/>
              <a:ext cx="3056571" cy="5077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pt-BR"/>
              </a:defPPr>
              <a:lvl1pPr marR="0" lvl="0" indent="0">
                <a:spcBef>
                  <a:spcPts val="0"/>
                </a:spcBef>
                <a:spcAft>
                  <a:spcPts val="0"/>
                </a:spcAft>
                <a:buNone/>
                <a:defRPr>
                  <a:solidFill>
                    <a:srgbClr val="7F7F7F"/>
                  </a:solidFill>
                  <a:latin typeface="Open Sans"/>
                  <a:ea typeface="Open Sans"/>
                  <a:cs typeface="Open San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pt-BR" b="1" dirty="0">
                  <a:solidFill>
                    <a:srgbClr val="FF6200"/>
                  </a:solidFill>
                  <a:latin typeface="Montserrat" pitchFamily="2" charset="0"/>
                </a:rPr>
                <a:t>3:</a:t>
              </a:r>
              <a:r>
                <a:rPr lang="pt-BR" b="1" dirty="0">
                  <a:latin typeface="Montserrat" pitchFamily="2" charset="0"/>
                </a:rPr>
                <a:t> </a:t>
              </a:r>
              <a:r>
                <a:rPr lang="pt-BR" dirty="0">
                  <a:latin typeface="Montserrat" pitchFamily="2" charset="0"/>
                </a:rPr>
                <a:t>Mapa</a:t>
              </a:r>
            </a:p>
          </p:txBody>
        </p:sp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5A23E976-BFB6-22F6-3E91-024D648C5F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87" r="16287"/>
            <a:stretch/>
          </p:blipFill>
          <p:spPr bwMode="auto">
            <a:xfrm>
              <a:off x="6270302" y="5187270"/>
              <a:ext cx="2602320" cy="1275364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567539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D6972ABD-A574-4739-7B5D-C90D9E2A3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70;p8">
            <a:extLst>
              <a:ext uri="{FF2B5EF4-FFF2-40B4-BE49-F238E27FC236}">
                <a16:creationId xmlns:a16="http://schemas.microsoft.com/office/drawing/2014/main" id="{216F9079-ECC7-C283-8838-75FF1034248C}"/>
              </a:ext>
            </a:extLst>
          </p:cNvPr>
          <p:cNvPicPr preferRelativeResize="0"/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03;p9">
            <a:extLst>
              <a:ext uri="{FF2B5EF4-FFF2-40B4-BE49-F238E27FC236}">
                <a16:creationId xmlns:a16="http://schemas.microsoft.com/office/drawing/2014/main" id="{A2BA8CC8-8BD8-8D14-D8A0-DD2D4F9B70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9319" y="1044529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Modelo de Regressão: Seleção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7" name="Google Shape;306;p9">
            <a:extLst>
              <a:ext uri="{FF2B5EF4-FFF2-40B4-BE49-F238E27FC236}">
                <a16:creationId xmlns:a16="http://schemas.microsoft.com/office/drawing/2014/main" id="{C1D5C0EC-3021-9F2A-BBE0-B3832653BC05}"/>
              </a:ext>
            </a:extLst>
          </p:cNvPr>
          <p:cNvSpPr txBox="1"/>
          <p:nvPr/>
        </p:nvSpPr>
        <p:spPr>
          <a:xfrm>
            <a:off x="963376" y="1102866"/>
            <a:ext cx="8659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cs typeface="Poppins ExtraLight"/>
                <a:sym typeface="Poppins ExtraLight"/>
              </a:rPr>
              <a:t>05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4" name="Google Shape;293;p8">
            <a:extLst>
              <a:ext uri="{FF2B5EF4-FFF2-40B4-BE49-F238E27FC236}">
                <a16:creationId xmlns:a16="http://schemas.microsoft.com/office/drawing/2014/main" id="{DD1075E1-BD53-FE72-848D-369EB88AC0D3}"/>
              </a:ext>
            </a:extLst>
          </p:cNvPr>
          <p:cNvSpPr/>
          <p:nvPr/>
        </p:nvSpPr>
        <p:spPr>
          <a:xfrm rot="18900000">
            <a:off x="-168568" y="-504451"/>
            <a:ext cx="1728000" cy="1767845"/>
          </a:xfrm>
          <a:custGeom>
            <a:avLst/>
            <a:gdLst>
              <a:gd name="connsiteX0" fmla="*/ 0 w 1728000"/>
              <a:gd name="connsiteY0" fmla="*/ 0 h 1673383"/>
              <a:gd name="connsiteX1" fmla="*/ 1728000 w 1728000"/>
              <a:gd name="connsiteY1" fmla="*/ 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0 h 1673383"/>
              <a:gd name="connsiteX1" fmla="*/ 1705958 w 1728000"/>
              <a:gd name="connsiteY1" fmla="*/ 90374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94462 h 1767845"/>
              <a:gd name="connsiteX1" fmla="*/ 1705958 w 1728000"/>
              <a:gd name="connsiteY1" fmla="*/ 998202 h 1767845"/>
              <a:gd name="connsiteX2" fmla="*/ 1728000 w 1728000"/>
              <a:gd name="connsiteY2" fmla="*/ 1767845 h 1767845"/>
              <a:gd name="connsiteX3" fmla="*/ 0 w 1728000"/>
              <a:gd name="connsiteY3" fmla="*/ 1767845 h 1767845"/>
              <a:gd name="connsiteX4" fmla="*/ 0 w 1728000"/>
              <a:gd name="connsiteY4" fmla="*/ 94462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000" h="1767845">
                <a:moveTo>
                  <a:pt x="0" y="94462"/>
                </a:moveTo>
                <a:cubicBezTo>
                  <a:pt x="568653" y="395709"/>
                  <a:pt x="-30945" y="-750498"/>
                  <a:pt x="1705958" y="998202"/>
                </a:cubicBezTo>
                <a:lnTo>
                  <a:pt x="1728000" y="1767845"/>
                </a:lnTo>
                <a:lnTo>
                  <a:pt x="0" y="1767845"/>
                </a:lnTo>
                <a:lnTo>
                  <a:pt x="0" y="94462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Google Shape;294;p8">
            <a:extLst>
              <a:ext uri="{FF2B5EF4-FFF2-40B4-BE49-F238E27FC236}">
                <a16:creationId xmlns:a16="http://schemas.microsoft.com/office/drawing/2014/main" id="{7ED60226-40B2-F0C6-2473-AD0B5F0DCC09}"/>
              </a:ext>
            </a:extLst>
          </p:cNvPr>
          <p:cNvSpPr/>
          <p:nvPr/>
        </p:nvSpPr>
        <p:spPr>
          <a:xfrm rot="18900000">
            <a:off x="11094582" y="4987076"/>
            <a:ext cx="2008112" cy="1672123"/>
          </a:xfrm>
          <a:prstGeom prst="rect">
            <a:avLst/>
          </a:pr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Google Shape;156;p5">
            <a:extLst>
              <a:ext uri="{FF2B5EF4-FFF2-40B4-BE49-F238E27FC236}">
                <a16:creationId xmlns:a16="http://schemas.microsoft.com/office/drawing/2014/main" id="{7998569F-689B-54E3-9545-3FBD2D211581}"/>
              </a:ext>
            </a:extLst>
          </p:cNvPr>
          <p:cNvSpPr txBox="1"/>
          <p:nvPr/>
        </p:nvSpPr>
        <p:spPr>
          <a:xfrm>
            <a:off x="-7371" y="1866218"/>
            <a:ext cx="12199371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FF6200"/>
                </a:solidFill>
                <a:latin typeface="Montserrat" pitchFamily="2" charset="0"/>
              </a:rPr>
              <a:t>Modelo Selecionado:</a:t>
            </a:r>
            <a:r>
              <a:rPr lang="pt-BR" b="1" dirty="0">
                <a:latin typeface="Montserrat" pitchFamily="2" charset="0"/>
              </a:rPr>
              <a:t> </a:t>
            </a:r>
            <a:r>
              <a:rPr lang="pt-BR" dirty="0">
                <a:latin typeface="Montserrat" pitchFamily="2" charset="0"/>
              </a:rPr>
              <a:t>Árvore de Decisão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4B41E62-392A-DDB0-5937-3F6F97073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110327" y="2550490"/>
            <a:ext cx="7971346" cy="406833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848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3390A0A1-3EFB-6222-02A6-DDD9B726A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70;p8">
            <a:extLst>
              <a:ext uri="{FF2B5EF4-FFF2-40B4-BE49-F238E27FC236}">
                <a16:creationId xmlns:a16="http://schemas.microsoft.com/office/drawing/2014/main" id="{57191FC6-B2B2-FF1A-7504-573FE99BCC16}"/>
              </a:ext>
            </a:extLst>
          </p:cNvPr>
          <p:cNvPicPr preferRelativeResize="0"/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03;p9">
            <a:extLst>
              <a:ext uri="{FF2B5EF4-FFF2-40B4-BE49-F238E27FC236}">
                <a16:creationId xmlns:a16="http://schemas.microsoft.com/office/drawing/2014/main" id="{68A041B6-3EE7-B25A-0EBD-66321D9610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9319" y="1044529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Modelo de Regressão: Otimização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7" name="Google Shape;306;p9">
            <a:extLst>
              <a:ext uri="{FF2B5EF4-FFF2-40B4-BE49-F238E27FC236}">
                <a16:creationId xmlns:a16="http://schemas.microsoft.com/office/drawing/2014/main" id="{058ABAFA-7155-E4E9-8020-ABF0F6935A03}"/>
              </a:ext>
            </a:extLst>
          </p:cNvPr>
          <p:cNvSpPr txBox="1"/>
          <p:nvPr/>
        </p:nvSpPr>
        <p:spPr>
          <a:xfrm>
            <a:off x="963376" y="1102866"/>
            <a:ext cx="8659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06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4" name="Google Shape;293;p8">
            <a:extLst>
              <a:ext uri="{FF2B5EF4-FFF2-40B4-BE49-F238E27FC236}">
                <a16:creationId xmlns:a16="http://schemas.microsoft.com/office/drawing/2014/main" id="{60592DF5-BA07-0C08-7392-30C68D960BEB}"/>
              </a:ext>
            </a:extLst>
          </p:cNvPr>
          <p:cNvSpPr/>
          <p:nvPr/>
        </p:nvSpPr>
        <p:spPr>
          <a:xfrm rot="18900000">
            <a:off x="-168568" y="-504451"/>
            <a:ext cx="1728000" cy="1767845"/>
          </a:xfrm>
          <a:custGeom>
            <a:avLst/>
            <a:gdLst>
              <a:gd name="connsiteX0" fmla="*/ 0 w 1728000"/>
              <a:gd name="connsiteY0" fmla="*/ 0 h 1673383"/>
              <a:gd name="connsiteX1" fmla="*/ 1728000 w 1728000"/>
              <a:gd name="connsiteY1" fmla="*/ 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0 h 1673383"/>
              <a:gd name="connsiteX1" fmla="*/ 1705958 w 1728000"/>
              <a:gd name="connsiteY1" fmla="*/ 90374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94462 h 1767845"/>
              <a:gd name="connsiteX1" fmla="*/ 1705958 w 1728000"/>
              <a:gd name="connsiteY1" fmla="*/ 998202 h 1767845"/>
              <a:gd name="connsiteX2" fmla="*/ 1728000 w 1728000"/>
              <a:gd name="connsiteY2" fmla="*/ 1767845 h 1767845"/>
              <a:gd name="connsiteX3" fmla="*/ 0 w 1728000"/>
              <a:gd name="connsiteY3" fmla="*/ 1767845 h 1767845"/>
              <a:gd name="connsiteX4" fmla="*/ 0 w 1728000"/>
              <a:gd name="connsiteY4" fmla="*/ 94462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000" h="1767845">
                <a:moveTo>
                  <a:pt x="0" y="94462"/>
                </a:moveTo>
                <a:cubicBezTo>
                  <a:pt x="568653" y="395709"/>
                  <a:pt x="-30945" y="-750498"/>
                  <a:pt x="1705958" y="998202"/>
                </a:cubicBezTo>
                <a:lnTo>
                  <a:pt x="1728000" y="1767845"/>
                </a:lnTo>
                <a:lnTo>
                  <a:pt x="0" y="1767845"/>
                </a:lnTo>
                <a:lnTo>
                  <a:pt x="0" y="94462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Google Shape;294;p8">
            <a:extLst>
              <a:ext uri="{FF2B5EF4-FFF2-40B4-BE49-F238E27FC236}">
                <a16:creationId xmlns:a16="http://schemas.microsoft.com/office/drawing/2014/main" id="{838F1440-E8A0-C8E4-78FC-327CE2678157}"/>
              </a:ext>
            </a:extLst>
          </p:cNvPr>
          <p:cNvSpPr/>
          <p:nvPr/>
        </p:nvSpPr>
        <p:spPr>
          <a:xfrm rot="18900000">
            <a:off x="11094582" y="4987076"/>
            <a:ext cx="2008112" cy="1672123"/>
          </a:xfrm>
          <a:prstGeom prst="rect">
            <a:avLst/>
          </a:pr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A0AA0CB-A19B-A60C-7E33-5E3B0E0A8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02979" y="2304381"/>
            <a:ext cx="8186042" cy="405669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967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ED2181B9-6895-96A0-A410-5738FCFBF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5">
            <a:extLst>
              <a:ext uri="{FF2B5EF4-FFF2-40B4-BE49-F238E27FC236}">
                <a16:creationId xmlns:a16="http://schemas.microsoft.com/office/drawing/2014/main" id="{2857B825-522A-24B6-3C68-50D2258E7555}"/>
              </a:ext>
            </a:extLst>
          </p:cNvPr>
          <p:cNvPicPr preferRelativeResize="0"/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0" r="8150"/>
          <a:stretch/>
        </p:blipFill>
        <p:spPr>
          <a:xfrm>
            <a:off x="3952042" y="0"/>
            <a:ext cx="86439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1F3B30C1-3E01-733A-F897-F7D70C0A4E18}"/>
              </a:ext>
            </a:extLst>
          </p:cNvPr>
          <p:cNvSpPr/>
          <p:nvPr/>
        </p:nvSpPr>
        <p:spPr>
          <a:xfrm>
            <a:off x="0" y="0"/>
            <a:ext cx="10788444" cy="6858000"/>
          </a:xfrm>
          <a:custGeom>
            <a:avLst/>
            <a:gdLst/>
            <a:ahLst/>
            <a:cxnLst/>
            <a:rect l="l" t="t" r="r" b="b"/>
            <a:pathLst>
              <a:path w="10788444" h="6858000" extrusionOk="0">
                <a:moveTo>
                  <a:pt x="0" y="0"/>
                </a:moveTo>
                <a:lnTo>
                  <a:pt x="3930444" y="0"/>
                </a:lnTo>
                <a:lnTo>
                  <a:pt x="107884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5">
            <a:extLst>
              <a:ext uri="{FF2B5EF4-FFF2-40B4-BE49-F238E27FC236}">
                <a16:creationId xmlns:a16="http://schemas.microsoft.com/office/drawing/2014/main" id="{06931FB4-B243-4092-422A-97705B03C2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2200" y="1089025"/>
            <a:ext cx="10007600" cy="766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Overfitting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58" name="Google Shape;158;p5">
            <a:extLst>
              <a:ext uri="{FF2B5EF4-FFF2-40B4-BE49-F238E27FC236}">
                <a16:creationId xmlns:a16="http://schemas.microsoft.com/office/drawing/2014/main" id="{8B971EBB-0A83-CA19-F382-C3EE48A03A39}"/>
              </a:ext>
            </a:extLst>
          </p:cNvPr>
          <p:cNvSpPr txBox="1"/>
          <p:nvPr/>
        </p:nvSpPr>
        <p:spPr>
          <a:xfrm>
            <a:off x="259773" y="1147362"/>
            <a:ext cx="83242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07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2" name="Google Shape;155;p5">
            <a:extLst>
              <a:ext uri="{FF2B5EF4-FFF2-40B4-BE49-F238E27FC236}">
                <a16:creationId xmlns:a16="http://schemas.microsoft.com/office/drawing/2014/main" id="{223E0A8A-5866-7CB6-44CB-B4F3BAB3F0BB}"/>
              </a:ext>
            </a:extLst>
          </p:cNvPr>
          <p:cNvSpPr/>
          <p:nvPr/>
        </p:nvSpPr>
        <p:spPr>
          <a:xfrm rot="18900000">
            <a:off x="7070723" y="3858345"/>
            <a:ext cx="7406645" cy="3864826"/>
          </a:xfrm>
          <a:custGeom>
            <a:avLst/>
            <a:gdLst>
              <a:gd name="connsiteX0" fmla="*/ 0 w 7406645"/>
              <a:gd name="connsiteY0" fmla="*/ 0 h 3864826"/>
              <a:gd name="connsiteX1" fmla="*/ 7406645 w 7406645"/>
              <a:gd name="connsiteY1" fmla="*/ 0 h 3864826"/>
              <a:gd name="connsiteX2" fmla="*/ 7406645 w 7406645"/>
              <a:gd name="connsiteY2" fmla="*/ 3864826 h 3864826"/>
              <a:gd name="connsiteX3" fmla="*/ 0 w 7406645"/>
              <a:gd name="connsiteY3" fmla="*/ 3864826 h 3864826"/>
              <a:gd name="connsiteX4" fmla="*/ 0 w 7406645"/>
              <a:gd name="connsiteY4" fmla="*/ 0 h 3864826"/>
              <a:gd name="connsiteX0" fmla="*/ 0 w 7406645"/>
              <a:gd name="connsiteY0" fmla="*/ 0 h 3864826"/>
              <a:gd name="connsiteX1" fmla="*/ 7406645 w 7406645"/>
              <a:gd name="connsiteY1" fmla="*/ 0 h 3864826"/>
              <a:gd name="connsiteX2" fmla="*/ 7406645 w 7406645"/>
              <a:gd name="connsiteY2" fmla="*/ 3864826 h 3864826"/>
              <a:gd name="connsiteX3" fmla="*/ 3908860 w 7406645"/>
              <a:gd name="connsiteY3" fmla="*/ 3850131 h 3864826"/>
              <a:gd name="connsiteX4" fmla="*/ 0 w 7406645"/>
              <a:gd name="connsiteY4" fmla="*/ 0 h 386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06645" h="3864826">
                <a:moveTo>
                  <a:pt x="0" y="0"/>
                </a:moveTo>
                <a:lnTo>
                  <a:pt x="7406645" y="0"/>
                </a:lnTo>
                <a:lnTo>
                  <a:pt x="7406645" y="3864826"/>
                </a:lnTo>
                <a:lnTo>
                  <a:pt x="3908860" y="3850131"/>
                </a:lnTo>
                <a:lnTo>
                  <a:pt x="0" y="0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156;p5">
            <a:extLst>
              <a:ext uri="{FF2B5EF4-FFF2-40B4-BE49-F238E27FC236}">
                <a16:creationId xmlns:a16="http://schemas.microsoft.com/office/drawing/2014/main" id="{65B576DD-E39A-01A0-AF1A-6B751FD1562F}"/>
              </a:ext>
            </a:extLst>
          </p:cNvPr>
          <p:cNvSpPr txBox="1"/>
          <p:nvPr/>
        </p:nvSpPr>
        <p:spPr>
          <a:xfrm>
            <a:off x="1092200" y="2232844"/>
            <a:ext cx="9715405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pt-BR" sz="2000" b="1" dirty="0">
                <a:solidFill>
                  <a:srgbClr val="FF6200"/>
                </a:solidFill>
                <a:latin typeface="Montserrat" pitchFamily="2" charset="0"/>
              </a:rPr>
              <a:t>Boas práticas aplicadas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pt-BR" dirty="0">
                <a:latin typeface="Montserrat" pitchFamily="2" charset="0"/>
              </a:rPr>
              <a:t>Seleção de features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pt-BR" dirty="0">
                <a:latin typeface="Montserrat" pitchFamily="2" charset="0"/>
              </a:rPr>
              <a:t>Validação cruzada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pt-BR" dirty="0">
                <a:latin typeface="Montserrat" pitchFamily="2" charset="0"/>
              </a:rPr>
              <a:t>Otimização de </a:t>
            </a:r>
            <a:r>
              <a:rPr lang="pt-BR" dirty="0" err="1">
                <a:latin typeface="Montserrat" pitchFamily="2" charset="0"/>
              </a:rPr>
              <a:t>hiperparâmetros</a:t>
            </a:r>
            <a:endParaRPr lang="pt-BR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32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914B8D54-D8F6-C294-DB42-3A8C9D07A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70;p8">
            <a:extLst>
              <a:ext uri="{FF2B5EF4-FFF2-40B4-BE49-F238E27FC236}">
                <a16:creationId xmlns:a16="http://schemas.microsoft.com/office/drawing/2014/main" id="{3D338E0E-E92B-5C15-7F6D-159AC7723234}"/>
              </a:ext>
            </a:extLst>
          </p:cNvPr>
          <p:cNvPicPr preferRelativeResize="0"/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03;p9">
            <a:extLst>
              <a:ext uri="{FF2B5EF4-FFF2-40B4-BE49-F238E27FC236}">
                <a16:creationId xmlns:a16="http://schemas.microsoft.com/office/drawing/2014/main" id="{493E55F9-1869-5D1D-AA52-BB359F0407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9319" y="1044529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Deploy</a:t>
            </a: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: Simulações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7" name="Google Shape;306;p9">
            <a:extLst>
              <a:ext uri="{FF2B5EF4-FFF2-40B4-BE49-F238E27FC236}">
                <a16:creationId xmlns:a16="http://schemas.microsoft.com/office/drawing/2014/main" id="{C334C8E9-79BF-A6D7-B115-E05632F7FB46}"/>
              </a:ext>
            </a:extLst>
          </p:cNvPr>
          <p:cNvSpPr txBox="1"/>
          <p:nvPr/>
        </p:nvSpPr>
        <p:spPr>
          <a:xfrm>
            <a:off x="963376" y="1102866"/>
            <a:ext cx="8659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08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4" name="Google Shape;293;p8">
            <a:extLst>
              <a:ext uri="{FF2B5EF4-FFF2-40B4-BE49-F238E27FC236}">
                <a16:creationId xmlns:a16="http://schemas.microsoft.com/office/drawing/2014/main" id="{86D276D6-AF06-2234-DB90-7506238730B5}"/>
              </a:ext>
            </a:extLst>
          </p:cNvPr>
          <p:cNvSpPr/>
          <p:nvPr/>
        </p:nvSpPr>
        <p:spPr>
          <a:xfrm rot="18900000">
            <a:off x="-168568" y="-504451"/>
            <a:ext cx="1728000" cy="1767845"/>
          </a:xfrm>
          <a:custGeom>
            <a:avLst/>
            <a:gdLst>
              <a:gd name="connsiteX0" fmla="*/ 0 w 1728000"/>
              <a:gd name="connsiteY0" fmla="*/ 0 h 1673383"/>
              <a:gd name="connsiteX1" fmla="*/ 1728000 w 1728000"/>
              <a:gd name="connsiteY1" fmla="*/ 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0 h 1673383"/>
              <a:gd name="connsiteX1" fmla="*/ 1705958 w 1728000"/>
              <a:gd name="connsiteY1" fmla="*/ 90374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94462 h 1767845"/>
              <a:gd name="connsiteX1" fmla="*/ 1705958 w 1728000"/>
              <a:gd name="connsiteY1" fmla="*/ 998202 h 1767845"/>
              <a:gd name="connsiteX2" fmla="*/ 1728000 w 1728000"/>
              <a:gd name="connsiteY2" fmla="*/ 1767845 h 1767845"/>
              <a:gd name="connsiteX3" fmla="*/ 0 w 1728000"/>
              <a:gd name="connsiteY3" fmla="*/ 1767845 h 1767845"/>
              <a:gd name="connsiteX4" fmla="*/ 0 w 1728000"/>
              <a:gd name="connsiteY4" fmla="*/ 94462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000" h="1767845">
                <a:moveTo>
                  <a:pt x="0" y="94462"/>
                </a:moveTo>
                <a:cubicBezTo>
                  <a:pt x="568653" y="395709"/>
                  <a:pt x="-30945" y="-750498"/>
                  <a:pt x="1705958" y="998202"/>
                </a:cubicBezTo>
                <a:lnTo>
                  <a:pt x="1728000" y="1767845"/>
                </a:lnTo>
                <a:lnTo>
                  <a:pt x="0" y="1767845"/>
                </a:lnTo>
                <a:lnTo>
                  <a:pt x="0" y="94462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Google Shape;294;p8">
            <a:extLst>
              <a:ext uri="{FF2B5EF4-FFF2-40B4-BE49-F238E27FC236}">
                <a16:creationId xmlns:a16="http://schemas.microsoft.com/office/drawing/2014/main" id="{3739FEB1-011A-7D5E-881F-AED85D547F51}"/>
              </a:ext>
            </a:extLst>
          </p:cNvPr>
          <p:cNvSpPr/>
          <p:nvPr/>
        </p:nvSpPr>
        <p:spPr>
          <a:xfrm rot="18900000">
            <a:off x="11094582" y="4987076"/>
            <a:ext cx="2008112" cy="1672123"/>
          </a:xfrm>
          <a:prstGeom prst="rect">
            <a:avLst/>
          </a:pr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30947D1-DC68-8F8C-4A27-577C26BED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02979" y="2663952"/>
            <a:ext cx="8186042" cy="249862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3602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43A44F8F-6B14-F03D-F181-52BC5385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70;p8">
            <a:extLst>
              <a:ext uri="{FF2B5EF4-FFF2-40B4-BE49-F238E27FC236}">
                <a16:creationId xmlns:a16="http://schemas.microsoft.com/office/drawing/2014/main" id="{3EA0F98C-F55C-0650-7070-B1B0C690AA45}"/>
              </a:ext>
            </a:extLst>
          </p:cNvPr>
          <p:cNvPicPr preferRelativeResize="0"/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8">
            <a:extLst>
              <a:ext uri="{FF2B5EF4-FFF2-40B4-BE49-F238E27FC236}">
                <a16:creationId xmlns:a16="http://schemas.microsoft.com/office/drawing/2014/main" id="{F19F8C42-E0AA-F1A8-4B00-6DFE3D2C362A}"/>
              </a:ext>
            </a:extLst>
          </p:cNvPr>
          <p:cNvSpPr/>
          <p:nvPr/>
        </p:nvSpPr>
        <p:spPr>
          <a:xfrm rot="-2700000">
            <a:off x="-168568" y="-504451"/>
            <a:ext cx="1728000" cy="1767845"/>
          </a:xfrm>
          <a:custGeom>
            <a:avLst/>
            <a:gdLst>
              <a:gd name="connsiteX0" fmla="*/ 0 w 1728000"/>
              <a:gd name="connsiteY0" fmla="*/ 0 h 1673383"/>
              <a:gd name="connsiteX1" fmla="*/ 1728000 w 1728000"/>
              <a:gd name="connsiteY1" fmla="*/ 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0 h 1673383"/>
              <a:gd name="connsiteX1" fmla="*/ 1705958 w 1728000"/>
              <a:gd name="connsiteY1" fmla="*/ 90374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94462 h 1767845"/>
              <a:gd name="connsiteX1" fmla="*/ 1705958 w 1728000"/>
              <a:gd name="connsiteY1" fmla="*/ 998202 h 1767845"/>
              <a:gd name="connsiteX2" fmla="*/ 1728000 w 1728000"/>
              <a:gd name="connsiteY2" fmla="*/ 1767845 h 1767845"/>
              <a:gd name="connsiteX3" fmla="*/ 0 w 1728000"/>
              <a:gd name="connsiteY3" fmla="*/ 1767845 h 1767845"/>
              <a:gd name="connsiteX4" fmla="*/ 0 w 1728000"/>
              <a:gd name="connsiteY4" fmla="*/ 94462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000" h="1767845">
                <a:moveTo>
                  <a:pt x="0" y="94462"/>
                </a:moveTo>
                <a:cubicBezTo>
                  <a:pt x="568653" y="395709"/>
                  <a:pt x="-30945" y="-750498"/>
                  <a:pt x="1705958" y="998202"/>
                </a:cubicBezTo>
                <a:lnTo>
                  <a:pt x="1728000" y="1767845"/>
                </a:lnTo>
                <a:lnTo>
                  <a:pt x="0" y="1767845"/>
                </a:lnTo>
                <a:lnTo>
                  <a:pt x="0" y="94462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Google Shape;303;p9">
            <a:extLst>
              <a:ext uri="{FF2B5EF4-FFF2-40B4-BE49-F238E27FC236}">
                <a16:creationId xmlns:a16="http://schemas.microsoft.com/office/drawing/2014/main" id="{08DAF915-7FAC-880E-6C77-7329D47C00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9319" y="1044529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Conclusão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7" name="Google Shape;306;p9">
            <a:extLst>
              <a:ext uri="{FF2B5EF4-FFF2-40B4-BE49-F238E27FC236}">
                <a16:creationId xmlns:a16="http://schemas.microsoft.com/office/drawing/2014/main" id="{DDADF644-098C-F47B-1A25-840A02093094}"/>
              </a:ext>
            </a:extLst>
          </p:cNvPr>
          <p:cNvSpPr txBox="1"/>
          <p:nvPr/>
        </p:nvSpPr>
        <p:spPr>
          <a:xfrm>
            <a:off x="963376" y="1102866"/>
            <a:ext cx="8659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09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294" name="Google Shape;294;p8">
            <a:extLst>
              <a:ext uri="{FF2B5EF4-FFF2-40B4-BE49-F238E27FC236}">
                <a16:creationId xmlns:a16="http://schemas.microsoft.com/office/drawing/2014/main" id="{C161F4DA-4C75-D283-BC33-C2F358D7DF68}"/>
              </a:ext>
            </a:extLst>
          </p:cNvPr>
          <p:cNvSpPr/>
          <p:nvPr/>
        </p:nvSpPr>
        <p:spPr>
          <a:xfrm rot="-2700000">
            <a:off x="11094582" y="4987076"/>
            <a:ext cx="2008112" cy="1672123"/>
          </a:xfrm>
          <a:prstGeom prst="rect">
            <a:avLst/>
          </a:pr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Google Shape;156;p5">
            <a:extLst>
              <a:ext uri="{FF2B5EF4-FFF2-40B4-BE49-F238E27FC236}">
                <a16:creationId xmlns:a16="http://schemas.microsoft.com/office/drawing/2014/main" id="{57B2BB6E-D4A6-F6AC-E705-58BF284E4CB0}"/>
              </a:ext>
            </a:extLst>
          </p:cNvPr>
          <p:cNvSpPr txBox="1"/>
          <p:nvPr/>
        </p:nvSpPr>
        <p:spPr>
          <a:xfrm>
            <a:off x="1082072" y="1860026"/>
            <a:ext cx="9715405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pt-BR" dirty="0">
                <a:latin typeface="Montserrat" pitchFamily="2" charset="0"/>
              </a:rPr>
              <a:t>	Os resultados obtidos demonstram que a aplicação de técnicas de ciência de dados e machine learning é capaz de gerar previsões consistentes para o valor de diárias de imóveis no Rio de Janeiro. A análise das variáveis permitiu identificar fatores que influenciam diretamente a precificação, contribuindo para uma modelagem mais eficiente e confiável.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Montserrat" pitchFamily="2" charset="0"/>
              </a:rPr>
              <a:t>	Além de apoiar decisões estratégicas na definição de preços, o projeto evidencia o potencial do uso de dados como ferramenta de otimização no mercado imobiliário. Dessa forma, a solução proposta agrega valor ao negócio ao promover maior precisão, competitividade e suporte à tomada de decisão baseada em dados.</a:t>
            </a:r>
          </a:p>
        </p:txBody>
      </p:sp>
    </p:spTree>
    <p:extLst>
      <p:ext uri="{BB962C8B-B14F-4D97-AF65-F5344CB8AC3E}">
        <p14:creationId xmlns:p14="http://schemas.microsoft.com/office/powerpoint/2010/main" val="192467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7"/>
          <p:cNvSpPr txBox="1"/>
          <p:nvPr/>
        </p:nvSpPr>
        <p:spPr>
          <a:xfrm>
            <a:off x="2941179" y="2644170"/>
            <a:ext cx="6309642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dirty="0">
                <a:solidFill>
                  <a:srgbClr val="FF6200"/>
                </a:solidFill>
                <a:latin typeface="Poppins Black"/>
                <a:ea typeface="Poppins Black"/>
                <a:cs typeface="Poppins Black"/>
                <a:sym typeface="Poppins Black"/>
              </a:rPr>
              <a:t>Obrigado</a:t>
            </a:r>
            <a:endParaRPr dirty="0">
              <a:solidFill>
                <a:srgbClr val="FF6200"/>
              </a:solidFill>
            </a:endParaRPr>
          </a:p>
        </p:txBody>
      </p:sp>
      <p:sp>
        <p:nvSpPr>
          <p:cNvPr id="502" name="Google Shape;502;p17"/>
          <p:cNvSpPr/>
          <p:nvPr/>
        </p:nvSpPr>
        <p:spPr>
          <a:xfrm rot="-2700000">
            <a:off x="202032" y="-1060032"/>
            <a:ext cx="1780335" cy="1780335"/>
          </a:xfrm>
          <a:custGeom>
            <a:avLst/>
            <a:gdLst>
              <a:gd name="connsiteX0" fmla="*/ 0 w 1780335"/>
              <a:gd name="connsiteY0" fmla="*/ 0 h 1780335"/>
              <a:gd name="connsiteX1" fmla="*/ 1780335 w 1780335"/>
              <a:gd name="connsiteY1" fmla="*/ 0 h 1780335"/>
              <a:gd name="connsiteX2" fmla="*/ 1780335 w 1780335"/>
              <a:gd name="connsiteY2" fmla="*/ 1780335 h 1780335"/>
              <a:gd name="connsiteX3" fmla="*/ 0 w 1780335"/>
              <a:gd name="connsiteY3" fmla="*/ 1780335 h 1780335"/>
              <a:gd name="connsiteX4" fmla="*/ 0 w 1780335"/>
              <a:gd name="connsiteY4" fmla="*/ 0 h 1780335"/>
              <a:gd name="connsiteX0" fmla="*/ 0 w 1780335"/>
              <a:gd name="connsiteY0" fmla="*/ 0 h 1780335"/>
              <a:gd name="connsiteX1" fmla="*/ 898637 w 1780335"/>
              <a:gd name="connsiteY1" fmla="*/ 896393 h 1780335"/>
              <a:gd name="connsiteX2" fmla="*/ 1780335 w 1780335"/>
              <a:gd name="connsiteY2" fmla="*/ 1780335 h 1780335"/>
              <a:gd name="connsiteX3" fmla="*/ 0 w 1780335"/>
              <a:gd name="connsiteY3" fmla="*/ 1780335 h 1780335"/>
              <a:gd name="connsiteX4" fmla="*/ 0 w 1780335"/>
              <a:gd name="connsiteY4" fmla="*/ 0 h 1780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0335" h="1780335">
                <a:moveTo>
                  <a:pt x="0" y="0"/>
                </a:moveTo>
                <a:lnTo>
                  <a:pt x="898637" y="896393"/>
                </a:lnTo>
                <a:lnTo>
                  <a:pt x="1780335" y="1780335"/>
                </a:lnTo>
                <a:lnTo>
                  <a:pt x="0" y="1780335"/>
                </a:lnTo>
                <a:lnTo>
                  <a:pt x="0" y="0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3" name="Google Shape;503;p17"/>
          <p:cNvSpPr/>
          <p:nvPr/>
        </p:nvSpPr>
        <p:spPr>
          <a:xfrm rot="-2700000">
            <a:off x="9449826" y="5041734"/>
            <a:ext cx="4174916" cy="2323100"/>
          </a:xfrm>
          <a:custGeom>
            <a:avLst/>
            <a:gdLst>
              <a:gd name="connsiteX0" fmla="*/ 0 w 4174916"/>
              <a:gd name="connsiteY0" fmla="*/ 0 h 2264320"/>
              <a:gd name="connsiteX1" fmla="*/ 4174916 w 4174916"/>
              <a:gd name="connsiteY1" fmla="*/ 0 h 2264320"/>
              <a:gd name="connsiteX2" fmla="*/ 4174916 w 4174916"/>
              <a:gd name="connsiteY2" fmla="*/ 2264320 h 2264320"/>
              <a:gd name="connsiteX3" fmla="*/ 0 w 4174916"/>
              <a:gd name="connsiteY3" fmla="*/ 2264320 h 2264320"/>
              <a:gd name="connsiteX4" fmla="*/ 0 w 4174916"/>
              <a:gd name="connsiteY4" fmla="*/ 0 h 2264320"/>
              <a:gd name="connsiteX0" fmla="*/ 0 w 4174916"/>
              <a:gd name="connsiteY0" fmla="*/ 0 h 2323100"/>
              <a:gd name="connsiteX1" fmla="*/ 4174916 w 4174916"/>
              <a:gd name="connsiteY1" fmla="*/ 0 h 2323100"/>
              <a:gd name="connsiteX2" fmla="*/ 4174916 w 4174916"/>
              <a:gd name="connsiteY2" fmla="*/ 2264320 h 2323100"/>
              <a:gd name="connsiteX3" fmla="*/ 2307110 w 4174916"/>
              <a:gd name="connsiteY3" fmla="*/ 2323100 h 2323100"/>
              <a:gd name="connsiteX4" fmla="*/ 0 w 4174916"/>
              <a:gd name="connsiteY4" fmla="*/ 0 h 232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4916" h="2323100">
                <a:moveTo>
                  <a:pt x="0" y="0"/>
                </a:moveTo>
                <a:lnTo>
                  <a:pt x="4174916" y="0"/>
                </a:lnTo>
                <a:lnTo>
                  <a:pt x="4174916" y="2264320"/>
                </a:lnTo>
                <a:lnTo>
                  <a:pt x="2307110" y="2323100"/>
                </a:lnTo>
                <a:lnTo>
                  <a:pt x="0" y="0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2873</TotalTime>
  <Words>346</Words>
  <Application>Microsoft Office PowerPoint</Application>
  <PresentationFormat>Widescreen</PresentationFormat>
  <Paragraphs>36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0" baseType="lpstr">
      <vt:lpstr>Aptos</vt:lpstr>
      <vt:lpstr>Aptos Display</vt:lpstr>
      <vt:lpstr>Arial</vt:lpstr>
      <vt:lpstr>Montserrat</vt:lpstr>
      <vt:lpstr>Open Sans</vt:lpstr>
      <vt:lpstr>Poppins Black</vt:lpstr>
      <vt:lpstr>Poppins ExtraLight</vt:lpstr>
      <vt:lpstr>Poppins SemiBold</vt:lpstr>
      <vt:lpstr>Tema do Office</vt:lpstr>
      <vt:lpstr>Apresentação do PowerPoint</vt:lpstr>
      <vt:lpstr>Objetivo</vt:lpstr>
      <vt:lpstr>Introdução</vt:lpstr>
      <vt:lpstr>EDA: Mapa</vt:lpstr>
      <vt:lpstr>EDA: Base Técnica</vt:lpstr>
      <vt:lpstr>Modelo de Regressão: Seleção</vt:lpstr>
      <vt:lpstr>Modelo de Regressão: Otimização</vt:lpstr>
      <vt:lpstr>Overfitting</vt:lpstr>
      <vt:lpstr>Deploy: Simulações</vt:lpstr>
      <vt:lpstr>Conclusão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Matheus Resende</dc:creator>
  <cp:lastModifiedBy>Matheus Resende</cp:lastModifiedBy>
  <cp:revision>176</cp:revision>
  <dcterms:created xsi:type="dcterms:W3CDTF">2024-09-30T22:35:54Z</dcterms:created>
  <dcterms:modified xsi:type="dcterms:W3CDTF">2026-05-26T18:01:34Z</dcterms:modified>
</cp:coreProperties>
</file>